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75" r:id="rId2"/>
    <p:sldId id="312" r:id="rId3"/>
    <p:sldId id="305" r:id="rId4"/>
    <p:sldId id="314" r:id="rId5"/>
    <p:sldId id="315" r:id="rId6"/>
    <p:sldId id="316" r:id="rId7"/>
    <p:sldId id="304" r:id="rId8"/>
    <p:sldId id="313" r:id="rId9"/>
    <p:sldId id="317" r:id="rId10"/>
    <p:sldId id="318" r:id="rId11"/>
    <p:sldId id="319" r:id="rId12"/>
    <p:sldId id="320" r:id="rId13"/>
    <p:sldId id="321" r:id="rId14"/>
    <p:sldId id="327" r:id="rId15"/>
    <p:sldId id="328" r:id="rId16"/>
    <p:sldId id="322" r:id="rId17"/>
    <p:sldId id="323" r:id="rId18"/>
    <p:sldId id="324" r:id="rId19"/>
    <p:sldId id="325" r:id="rId20"/>
    <p:sldId id="32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BC2D5CC-C0F9-4BF3-9FF2-733A6DF5E031}">
          <p14:sldIdLst>
            <p14:sldId id="275"/>
            <p14:sldId id="312"/>
            <p14:sldId id="305"/>
            <p14:sldId id="314"/>
            <p14:sldId id="315"/>
            <p14:sldId id="316"/>
            <p14:sldId id="304"/>
            <p14:sldId id="313"/>
            <p14:sldId id="317"/>
            <p14:sldId id="318"/>
            <p14:sldId id="319"/>
            <p14:sldId id="320"/>
            <p14:sldId id="321"/>
            <p14:sldId id="327"/>
            <p14:sldId id="328"/>
            <p14:sldId id="322"/>
            <p14:sldId id="323"/>
            <p14:sldId id="324"/>
            <p14:sldId id="325"/>
            <p14:sldId id="32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654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DC975E-1C9F-40B5-AF9A-164AD3D72FC2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3F05BE-A968-47C7-8437-84EFA0DE7E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4788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845E6D-4291-44ED-8423-3413786B0C88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346A9E-ACA9-4F24-A258-BBB1C95C65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28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77DBB-8641-4B78-AA47-D8692A694DA8}" type="datetime1">
              <a:rPr lang="en-IN" smtClean="0"/>
              <a:pPr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294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AB318-DC7B-44DB-AAFD-CA762F6881C8}" type="datetime1">
              <a:rPr lang="en-IN" smtClean="0"/>
              <a:pPr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6C3307-7F0D-4BAE-9D7F-2575F222398B}"/>
              </a:ext>
            </a:extLst>
          </p:cNvPr>
          <p:cNvSpPr/>
          <p:nvPr userDrawn="1"/>
        </p:nvSpPr>
        <p:spPr>
          <a:xfrm>
            <a:off x="0" y="6469038"/>
            <a:ext cx="12192000" cy="38896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>
                <a:solidFill>
                  <a:srgbClr val="002060"/>
                </a:solidFill>
              </a:rPr>
              <a:t>Chandubhai</a:t>
            </a:r>
            <a:r>
              <a:rPr lang="en-IN" dirty="0">
                <a:solidFill>
                  <a:srgbClr val="002060"/>
                </a:solidFill>
              </a:rPr>
              <a:t> S. Patel Institute of Technology (CSPIT), CHARUSAT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E75BD-027B-466F-AF02-7BD9D6D39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23293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2302F-D099-4920-A6BB-05E9553199A6}" type="datetime1">
              <a:rPr lang="en-IN" smtClean="0"/>
              <a:pPr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285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0940A-BE36-47B3-A0B6-5243109EBDE6}" type="datetime1">
              <a:rPr lang="en-IN" smtClean="0"/>
              <a:pPr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7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75404-A5A6-4D85-995D-5164D2B6DF39}" type="datetime1">
              <a:rPr lang="en-IN" smtClean="0"/>
              <a:pPr/>
              <a:t>19-02-2026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35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63201-9AB5-4E58-AE88-8062C3DE18EE}" type="datetime1">
              <a:rPr lang="en-IN" smtClean="0"/>
              <a:pPr/>
              <a:t>19-02-2026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172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4917C-7D8F-4F64-AFA2-53AF4AAC3A1A}" type="datetime1">
              <a:rPr lang="en-IN" smtClean="0"/>
              <a:pPr/>
              <a:t>19-02-2026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176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9D154-3180-4A3B-B40E-E6A3214A7B41}" type="datetime1">
              <a:rPr lang="en-IN" smtClean="0"/>
              <a:pPr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404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30784-3BC2-4737-BEF5-19C336472281}" type="datetime1">
              <a:rPr lang="en-IN" smtClean="0"/>
              <a:pPr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327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01ADF-2CCE-47EC-9E40-74CF6E05F206}" type="datetime1">
              <a:rPr lang="en-IN" smtClean="0"/>
              <a:pPr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038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57271-5DC5-4159-8131-BC3AF56D2332}" type="datetime1">
              <a:rPr lang="en-IN" smtClean="0"/>
              <a:pPr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879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F124B-FB10-448F-BF1D-BAFAADCDA708}" type="datetime1">
              <a:rPr lang="en-IN" smtClean="0"/>
              <a:pPr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BC8CE-00A2-4570-A7C4-CF89774406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646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wnloadcenter.intel.com/download/28539?v=t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643896"/>
            <a:ext cx="1183260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200" dirty="0">
              <a:solidFill>
                <a:schemeClr val="bg1"/>
              </a:solidFill>
            </a:endParaRPr>
          </a:p>
          <a:p>
            <a:pPr algn="ctr"/>
            <a:r>
              <a:rPr lang="en-IN" sz="2200" cap="all" spc="500" dirty="0"/>
              <a:t>Ce443 : Cloud computing</a:t>
            </a:r>
          </a:p>
          <a:p>
            <a:pPr algn="ctr"/>
            <a:endParaRPr lang="en-IN" sz="2200" cap="all" spc="500" dirty="0"/>
          </a:p>
          <a:p>
            <a:pPr algn="ctr"/>
            <a:endParaRPr lang="en-IN" sz="2200" cap="all" spc="500" dirty="0"/>
          </a:p>
          <a:p>
            <a:pPr algn="ctr"/>
            <a:r>
              <a:rPr lang="en-IN" sz="2200" cap="all" spc="500" dirty="0"/>
              <a:t>Unit -2 virtualization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130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548788"/>
            <a:ext cx="10515600" cy="4351338"/>
          </a:xfrm>
        </p:spPr>
        <p:txBody>
          <a:bodyPr/>
          <a:lstStyle/>
          <a:p>
            <a:pPr algn="just">
              <a:buNone/>
            </a:pPr>
            <a:r>
              <a:rPr lang="en-US" dirty="0"/>
              <a:t>In computing, virtualization means to create a virtual version of a device or resource, such as a server, storage device, network or even an operating system where the framework divides the resource into one or more execution environments. 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Virtualization</a:t>
            </a:r>
            <a:r>
              <a:rPr lang="en-US" dirty="0"/>
              <a:t>	</a:t>
            </a:r>
            <a:endParaRPr lang="en-US" b="1" dirty="0"/>
          </a:p>
        </p:txBody>
      </p:sp>
      <p:pic>
        <p:nvPicPr>
          <p:cNvPr id="1026" name="Picture 2" descr="11 Points to Consider When Virtualizing Security">
            <a:extLst>
              <a:ext uri="{FF2B5EF4-FFF2-40B4-BE49-F238E27FC236}">
                <a16:creationId xmlns:a16="http://schemas.microsoft.com/office/drawing/2014/main" id="{51A4EF54-B04F-4820-92A6-667725C3F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5877" y="3428999"/>
            <a:ext cx="7521244" cy="289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Difference between Traditional Computer and Virtual machines</a:t>
            </a:r>
            <a:br>
              <a:rPr lang="en-US" b="1" dirty="0"/>
            </a:b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B5846A-0B0F-4FCC-8F84-947BA7895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02" y="1684911"/>
            <a:ext cx="5724356" cy="31014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7E70C8-9E0D-4053-AA2D-3A7FF9756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936147"/>
            <a:ext cx="6009499" cy="310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07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A145C6-0E2E-4414-9C25-FE94F7650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41F1AB-6A96-426E-A4E1-708227C17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01" y="469784"/>
            <a:ext cx="4996003" cy="45701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6DF3EF-A991-4D10-B902-41B3C8366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508" y="1275125"/>
            <a:ext cx="5286206" cy="465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958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105794-39B1-4B05-B558-25D9BBFFB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pPr/>
              <a:t>5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E04AC4-9128-4100-9676-65586E65E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Where you want to create? Is it for Personal use or for Production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449D879-E39D-4018-97BE-D06FDFEE1B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015078"/>
              </p:ext>
            </p:extLst>
          </p:nvPr>
        </p:nvGraphicFramePr>
        <p:xfrm>
          <a:off x="5872294" y="3508966"/>
          <a:ext cx="4573864" cy="16083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3864">
                  <a:extLst>
                    <a:ext uri="{9D8B030D-6E8A-4147-A177-3AD203B41FA5}">
                      <a16:colId xmlns:a16="http://schemas.microsoft.com/office/drawing/2014/main" val="155540934"/>
                    </a:ext>
                  </a:extLst>
                </a:gridCol>
              </a:tblGrid>
              <a:tr h="53546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Hyper-V on Windows Server 2008 R2 &amp; above OS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614548"/>
                  </a:ext>
                </a:extLst>
              </a:tr>
              <a:tr h="55092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VMWare </a:t>
                      </a:r>
                      <a:r>
                        <a:rPr lang="en-US" sz="1600" dirty="0" err="1">
                          <a:effectLst/>
                        </a:rPr>
                        <a:t>ESXi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608595"/>
                  </a:ext>
                </a:extLst>
              </a:tr>
              <a:tr h="52193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XenServer</a:t>
                      </a:r>
                      <a:r>
                        <a:rPr lang="en-US" sz="1600" dirty="0">
                          <a:effectLst/>
                        </a:rPr>
                        <a:t> from Citrix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686336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80AFEE7-1DF6-455D-9BAD-CE959FFAB2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430828"/>
              </p:ext>
            </p:extLst>
          </p:nvPr>
        </p:nvGraphicFramePr>
        <p:xfrm>
          <a:off x="1015068" y="2085859"/>
          <a:ext cx="4522132" cy="1788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22132">
                  <a:extLst>
                    <a:ext uri="{9D8B030D-6E8A-4147-A177-3AD203B41FA5}">
                      <a16:colId xmlns:a16="http://schemas.microsoft.com/office/drawing/2014/main" val="3521097893"/>
                    </a:ext>
                  </a:extLst>
                </a:gridCol>
              </a:tblGrid>
              <a:tr h="37645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Hyper-V on Windows 10 / Server OS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6298750"/>
                  </a:ext>
                </a:extLst>
              </a:tr>
              <a:tr h="38345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VirtualBox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446156"/>
                  </a:ext>
                </a:extLst>
              </a:tr>
              <a:tr h="376456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VMWare Workstation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281605"/>
                  </a:ext>
                </a:extLst>
              </a:tr>
              <a:tr h="628323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VMWare Player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79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1172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406B9B-F931-4F54-8CF0-3ED139D98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pPr/>
              <a:t>6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026D87-240E-457B-BBAD-0CE943DBE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590550"/>
            <a:ext cx="8191500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655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DF16C9-BC9E-4826-938B-94D7D1440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Virtualization for Data Center Automation </a:t>
            </a:r>
            <a:r>
              <a:rPr lang="en-US" b="1" dirty="0">
                <a:solidFill>
                  <a:srgbClr val="FF0000"/>
                </a:solidFill>
              </a:rPr>
              <a:t>- To serve millions of clients, simultaneously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CC1846-C3E4-4041-A2EA-FA0247097F4D}"/>
              </a:ext>
            </a:extLst>
          </p:cNvPr>
          <p:cNvSpPr/>
          <p:nvPr/>
        </p:nvSpPr>
        <p:spPr>
          <a:xfrm>
            <a:off x="1084976" y="1951672"/>
            <a:ext cx="6683230" cy="2126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Server Consolidation in Virtualized Datacenter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Virtual Storage Provisioning and Deprovisioning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Cloud Operating Systems for Virtual Datacenters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Trust Management in virtualized Datacenters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465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A9F046-EDCC-48E6-A260-29CA149F7E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8877" y="1879627"/>
            <a:ext cx="4072385" cy="424333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167292-5B4D-4F05-A6DC-AB9CF1E23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618F351-C7AC-4E2F-8C4F-66BD9EDE0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Virtualization Ranging from Hardware to Applications in Five Abstraction Levels      </a:t>
            </a:r>
          </a:p>
        </p:txBody>
      </p:sp>
    </p:spTree>
    <p:extLst>
      <p:ext uri="{BB962C8B-B14F-4D97-AF65-F5344CB8AC3E}">
        <p14:creationId xmlns:p14="http://schemas.microsoft.com/office/powerpoint/2010/main" val="942333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F37D0C-8F38-41C7-997E-EFC639754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Speed of VM – Depends on</a:t>
            </a:r>
          </a:p>
          <a:p>
            <a:pPr lvl="1"/>
            <a:r>
              <a:rPr lang="en-US" dirty="0"/>
              <a:t>HDD or SSD (Solid State Disk)</a:t>
            </a:r>
          </a:p>
          <a:p>
            <a:pPr lvl="1"/>
            <a:r>
              <a:rPr lang="en-US" dirty="0"/>
              <a:t>Memory</a:t>
            </a:r>
          </a:p>
          <a:p>
            <a:pPr lvl="1"/>
            <a:r>
              <a:rPr lang="en-US" dirty="0"/>
              <a:t>Number of CPUs</a:t>
            </a:r>
          </a:p>
          <a:p>
            <a:r>
              <a:rPr lang="en-US" dirty="0"/>
              <a:t>Storage Assignment</a:t>
            </a:r>
          </a:p>
          <a:p>
            <a:pPr lvl="1"/>
            <a:r>
              <a:rPr lang="en-US" dirty="0"/>
              <a:t>For each machine</a:t>
            </a:r>
          </a:p>
          <a:p>
            <a:pPr lvl="1"/>
            <a:r>
              <a:rPr lang="en-US" dirty="0"/>
              <a:t>Optimize the existing storage with master images and master VMs</a:t>
            </a:r>
          </a:p>
          <a:p>
            <a:r>
              <a:rPr lang="en-US" dirty="0"/>
              <a:t>Networking </a:t>
            </a:r>
          </a:p>
          <a:p>
            <a:pPr lvl="1"/>
            <a:r>
              <a:rPr lang="en-US" dirty="0"/>
              <a:t>NAT (Network Address Translation)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53B39B-5637-40C5-B52C-53B0F7B44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A639A7-E43D-41DC-82CC-69D57D409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Components</a:t>
            </a:r>
          </a:p>
        </p:txBody>
      </p:sp>
    </p:spTree>
    <p:extLst>
      <p:ext uri="{BB962C8B-B14F-4D97-AF65-F5344CB8AC3E}">
        <p14:creationId xmlns:p14="http://schemas.microsoft.com/office/powerpoint/2010/main" val="1540411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521D6D-12A4-4149-8148-C72CA2F5E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pPr/>
              <a:t>10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119748-328B-4935-8C4B-0C19F2BA0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543" y="1493240"/>
            <a:ext cx="5910169" cy="351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275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88E7B7-ACB8-4FAC-A05A-616486408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pPr/>
              <a:t>11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7E734A-E6D7-4F07-B94C-DFEA1FC80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9046"/>
            <a:ext cx="12192000" cy="595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175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6ED6B3-1AFF-463E-BECF-753856076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pPr/>
              <a:t>12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129857-B22C-4520-BA0F-3D238AB20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81" y="713064"/>
            <a:ext cx="9785319" cy="517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133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532D9F-72A3-4FFD-B25A-DA02826D6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198" y="956346"/>
            <a:ext cx="10515600" cy="453005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i="1" dirty="0"/>
              <a:t>hypervisor</a:t>
            </a:r>
            <a:r>
              <a:rPr lang="en-US" dirty="0"/>
              <a:t> is a function which abstract – isolate – operating system and applications from the underlaying hardware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nb-NO" dirty="0"/>
              <a:t>Type 1: </a:t>
            </a:r>
            <a:r>
              <a:rPr lang="nb-NO" dirty="0">
                <a:solidFill>
                  <a:srgbClr val="FF0000"/>
                </a:solidFill>
              </a:rPr>
              <a:t>bare metal hypervisor </a:t>
            </a:r>
            <a:r>
              <a:rPr lang="nb-NO" dirty="0" smtClean="0">
                <a:solidFill>
                  <a:srgbClr val="FF0000"/>
                </a:solidFill>
              </a:rPr>
              <a:t>[e.g. </a:t>
            </a:r>
            <a:r>
              <a:rPr lang="en-IN" dirty="0"/>
              <a:t>VMware </a:t>
            </a:r>
            <a:r>
              <a:rPr lang="en-IN" dirty="0" err="1" smtClean="0"/>
              <a:t>ESXi</a:t>
            </a:r>
            <a:r>
              <a:rPr lang="en-IN" dirty="0"/>
              <a:t>, </a:t>
            </a:r>
            <a:r>
              <a:rPr lang="en-IN" dirty="0" err="1"/>
              <a:t>Xen</a:t>
            </a:r>
            <a:r>
              <a:rPr lang="en-IN" dirty="0"/>
              <a:t> Hypervisor]</a:t>
            </a:r>
            <a:endParaRPr lang="nb-NO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Type 2: </a:t>
            </a:r>
            <a:r>
              <a:rPr lang="en-US" dirty="0">
                <a:solidFill>
                  <a:srgbClr val="FF0000"/>
                </a:solidFill>
              </a:rPr>
              <a:t>hosted hypervisor </a:t>
            </a:r>
            <a:r>
              <a:rPr lang="en-US" dirty="0" smtClean="0">
                <a:solidFill>
                  <a:srgbClr val="FF0000"/>
                </a:solidFill>
              </a:rPr>
              <a:t> [e.g. </a:t>
            </a:r>
            <a:r>
              <a:rPr lang="en-IN" dirty="0"/>
              <a:t>VMware </a:t>
            </a:r>
            <a:r>
              <a:rPr lang="en-IN" dirty="0" smtClean="0"/>
              <a:t>Workstation]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/>
              <a:t>Architecture type</a:t>
            </a:r>
            <a:r>
              <a:rPr lang="en-US" dirty="0"/>
              <a:t> → Type 1 or Type </a:t>
            </a:r>
            <a:r>
              <a:rPr lang="en-US" dirty="0" smtClean="0"/>
              <a:t>2</a:t>
            </a:r>
          </a:p>
          <a:p>
            <a:pPr marL="0" indent="0">
              <a:buNone/>
            </a:pPr>
            <a:r>
              <a:rPr lang="en-US" b="1" dirty="0"/>
              <a:t>Virtualization technique</a:t>
            </a:r>
            <a:r>
              <a:rPr lang="en-US" dirty="0"/>
              <a:t> → Full or Para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3E0A64-9AD5-4325-90F3-86FB06A7C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BEF714-729A-49A3-8EAF-38A1DC757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876251" cy="59122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Virtualization</a:t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556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19842" y="1825625"/>
            <a:ext cx="4152316" cy="4351338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Para-virtualization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0637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5165" y="1690688"/>
            <a:ext cx="4122801" cy="4351338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Full-virtualization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8012430" y="2846070"/>
            <a:ext cx="296037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Example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smtClean="0"/>
              <a:t> Oracle </a:t>
            </a:r>
            <a:r>
              <a:rPr lang="en-IN" dirty="0"/>
              <a:t>VM </a:t>
            </a:r>
            <a:endParaRPr lang="en-IN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 smtClean="0"/>
              <a:t> VMware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7793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588D56-5EF9-4EB3-AF61-09DFF1DD3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231" y="1409350"/>
            <a:ext cx="10615569" cy="476761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Enable VT in BIOS</a:t>
            </a:r>
          </a:p>
          <a:p>
            <a:r>
              <a:rPr lang="en-US" dirty="0"/>
              <a:t>Install </a:t>
            </a:r>
            <a:r>
              <a:rPr lang="en-US" dirty="0" err="1"/>
              <a:t>hyper-v</a:t>
            </a:r>
            <a:r>
              <a:rPr lang="en-US" dirty="0"/>
              <a:t> features/roles</a:t>
            </a:r>
          </a:p>
          <a:p>
            <a:r>
              <a:rPr lang="en-US" dirty="0"/>
              <a:t>Setup folders</a:t>
            </a:r>
          </a:p>
          <a:p>
            <a:r>
              <a:rPr lang="en-US" dirty="0"/>
              <a:t>Setup shutdown and restart behavior</a:t>
            </a:r>
          </a:p>
          <a:p>
            <a:r>
              <a:rPr lang="en-US" dirty="0"/>
              <a:t>Setup networking</a:t>
            </a:r>
          </a:p>
          <a:p>
            <a:r>
              <a:rPr lang="en-US" dirty="0"/>
              <a:t>Setup NAT</a:t>
            </a:r>
          </a:p>
          <a:p>
            <a:r>
              <a:rPr lang="en-US" dirty="0"/>
              <a:t>Create a VM</a:t>
            </a:r>
          </a:p>
          <a:p>
            <a:r>
              <a:rPr lang="en-US" dirty="0"/>
              <a:t>Check communication between two VM’s</a:t>
            </a:r>
          </a:p>
          <a:p>
            <a:r>
              <a:rPr lang="en-US" dirty="0"/>
              <a:t>Create a master VM /Images/</a:t>
            </a:r>
            <a:r>
              <a:rPr lang="en-US" dirty="0" err="1"/>
              <a:t>Sysprep</a:t>
            </a:r>
            <a:endParaRPr lang="en-US" dirty="0"/>
          </a:p>
          <a:p>
            <a:r>
              <a:rPr lang="en-US" dirty="0"/>
              <a:t>Creating snapshots &amp; checkpoints</a:t>
            </a:r>
          </a:p>
          <a:p>
            <a:r>
              <a:rPr lang="en-US" dirty="0"/>
              <a:t>Add </a:t>
            </a:r>
            <a:r>
              <a:rPr lang="en-US" dirty="0" err="1"/>
              <a:t>harddisk</a:t>
            </a:r>
            <a:endParaRPr lang="en-US" dirty="0"/>
          </a:p>
          <a:p>
            <a:r>
              <a:rPr lang="en-US" dirty="0"/>
              <a:t>Expand existing </a:t>
            </a:r>
            <a:r>
              <a:rPr lang="en-US" dirty="0" err="1"/>
              <a:t>harddisk</a:t>
            </a:r>
            <a:endParaRPr lang="en-US" dirty="0"/>
          </a:p>
          <a:p>
            <a:r>
              <a:rPr lang="en-US" dirty="0"/>
              <a:t>Change resources for existing VM</a:t>
            </a:r>
          </a:p>
          <a:p>
            <a:r>
              <a:rPr lang="en-US" dirty="0"/>
              <a:t>Create domain controller , member server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619B73-DF3B-41C9-A2B6-44DDAB80C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pPr/>
              <a:t>16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0510F28-1440-401A-B76F-C5FF02A83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setup Hyper - V</a:t>
            </a:r>
          </a:p>
        </p:txBody>
      </p:sp>
    </p:spTree>
    <p:extLst>
      <p:ext uri="{BB962C8B-B14F-4D97-AF65-F5344CB8AC3E}">
        <p14:creationId xmlns:p14="http://schemas.microsoft.com/office/powerpoint/2010/main" val="2135662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B2641D-65D1-424C-B6CA-2BEC585B2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pPr/>
              <a:t>17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46C010-47C4-4AD9-825D-4FB9F2360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187" y="614362"/>
            <a:ext cx="9191625" cy="562927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85388A-F890-4706-B721-69F10720E96D}"/>
              </a:ext>
            </a:extLst>
          </p:cNvPr>
          <p:cNvSpPr/>
          <p:nvPr/>
        </p:nvSpPr>
        <p:spPr>
          <a:xfrm>
            <a:off x="411911" y="132317"/>
            <a:ext cx="54623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https://downloadcenter.intel.com/download/28539?v=t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9315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069571-154C-4114-B5AC-011197917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pPr/>
              <a:t>18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B8AF61-5546-4C92-AF77-A33043288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" y="19050"/>
            <a:ext cx="12182475" cy="681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996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D783D-F7D4-4848-A190-33F2C254B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pPr/>
              <a:t>19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FA862A-D53A-4E4F-BF94-AC1879575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250" y="673066"/>
            <a:ext cx="4819500" cy="5511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826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FA82FB-1B3F-4E01-97D2-86253D8C5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BC8CE-00A2-4570-A7C4-CF89774406DD}" type="slidenum">
              <a:rPr lang="en-IN" smtClean="0"/>
              <a:pPr/>
              <a:t>20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73007F-1DC9-4891-B86A-9442504CB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4607"/>
            <a:ext cx="12192000" cy="512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341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150D4B8DBC9742AD3D53C371E3F057" ma:contentTypeVersion="7" ma:contentTypeDescription="Create a new document." ma:contentTypeScope="" ma:versionID="27a52d5b84378973518d4564e4ed5fd5">
  <xsd:schema xmlns:xsd="http://www.w3.org/2001/XMLSchema" xmlns:xs="http://www.w3.org/2001/XMLSchema" xmlns:p="http://schemas.microsoft.com/office/2006/metadata/properties" xmlns:ns2="b2f5f30d-1bb1-4360-a62f-ab10900cd46f" targetNamespace="http://schemas.microsoft.com/office/2006/metadata/properties" ma:root="true" ma:fieldsID="166028c27e4c0d3988baf6d78cc03015" ns2:_="">
    <xsd:import namespace="b2f5f30d-1bb1-4360-a62f-ab10900cd46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f5f30d-1bb1-4360-a62f-ab10900cd4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D5F1DE4-C30B-4891-A398-6E8B2068C169}"/>
</file>

<file path=customXml/itemProps2.xml><?xml version="1.0" encoding="utf-8"?>
<ds:datastoreItem xmlns:ds="http://schemas.openxmlformats.org/officeDocument/2006/customXml" ds:itemID="{645D4D5F-6062-48C2-906C-C8B333F9DC58}"/>
</file>

<file path=customXml/itemProps3.xml><?xml version="1.0" encoding="utf-8"?>
<ds:datastoreItem xmlns:ds="http://schemas.openxmlformats.org/officeDocument/2006/customXml" ds:itemID="{799E369D-B237-43A2-9CA3-C7C9F4BD19E8}"/>
</file>

<file path=docProps/app.xml><?xml version="1.0" encoding="utf-8"?>
<Properties xmlns="http://schemas.openxmlformats.org/officeDocument/2006/extended-properties" xmlns:vt="http://schemas.openxmlformats.org/officeDocument/2006/docPropsVTypes">
  <TotalTime>4164</TotalTime>
  <Words>314</Words>
  <Application>Microsoft Office PowerPoint</Application>
  <PresentationFormat>Widescreen</PresentationFormat>
  <Paragraphs>85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Virtualization </vt:lpstr>
      <vt:lpstr> Difference between Traditional Computer and Virtual machines </vt:lpstr>
      <vt:lpstr>PowerPoint Presentation</vt:lpstr>
      <vt:lpstr>Where you want to create? Is it for Personal use or for Production</vt:lpstr>
      <vt:lpstr>PowerPoint Presentation</vt:lpstr>
      <vt:lpstr> Virtualization for Data Center Automation - To serve millions of clients, simultaneously </vt:lpstr>
      <vt:lpstr>Virtualization Ranging from Hardware to Applications in Five Abstraction Levels      </vt:lpstr>
      <vt:lpstr>Core Components</vt:lpstr>
      <vt:lpstr>PowerPoint Presentation</vt:lpstr>
      <vt:lpstr>PowerPoint Presentation</vt:lpstr>
      <vt:lpstr>PowerPoint Presentation</vt:lpstr>
      <vt:lpstr>Virtualization </vt:lpstr>
      <vt:lpstr>Para-virtualization </vt:lpstr>
      <vt:lpstr>Full-virtualization</vt:lpstr>
      <vt:lpstr>How to setup Hyper - V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Mrugendra</dc:creator>
  <cp:lastModifiedBy>CHARUSAT</cp:lastModifiedBy>
  <cp:revision>339</cp:revision>
  <dcterms:created xsi:type="dcterms:W3CDTF">2017-07-29T08:12:59Z</dcterms:created>
  <dcterms:modified xsi:type="dcterms:W3CDTF">2026-02-19T06:36:42Z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0x01010001150D4B8DBC9742AD3D53C371E3F057</vt:lpwstr>
  </property>
</Properties>
</file>